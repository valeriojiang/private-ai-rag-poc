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Trenta secondi: cos'e' e cosa dimostro.</a:t>
            </a:r>
          </a:p>
          <a:p/>
          <a:p>
            <a:r>
              <a:t>«Un backend Django che risponde a domande sul contenuto di PDF, citando le fonti. Tutto gira in locale: generazione ed embedding passano da Ollama sulla mia macchina, nessun servizio cloud.</a:t>
            </a:r>
          </a:p>
          <a:p/>
          <a:p>
            <a:r>
              <a:t>Vi mostro tre cose: come ho letto la traccia, come ho coperto le specifiche, e poi il sistema che gira davvero.»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punto da far passare: la traccia lascia liberta', e la liberta' e' la parte da governare, non da subire.</a:t>
            </a:r>
          </a:p>
          <a:p/>
          <a:p>
            <a:r>
              <a:t>La distinzione T / S / D serve a questo: chi legge deve poter separare cio' che era chiesto da cio' che ho deciso io. Se qualcosa non vi torna, si discute su una riga precisa.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Due processi, due servizi. Se dovessi spostare l'inferenza su un server GPU nostro, cambia un campo nell'admin (base_url), non il codice.</a:t>
            </a:r>
          </a:p>
          <a:p/>
          <a:p>
            <a:r>
              <a:t>Ollama non e' containerizzato: su Windows il passthrough della GPU verso Docker richiederebbe WSL2 e nvidia-container-toolkit. Resta comunque dentro il perimetro — «privato» riguarda il confine dell'inferenza, non quello di Compose.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qualcuno chiede perche' il 202 e non il 201: perche' l'indicizzazione costa 12 secondi a freddo e non ha senso tenere aperta una connessione HTTP per quello. Il 202 in HTTP significa esattamente «ho preso in carico, non ho ancora finito».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Questo e' il cuore della traccia e il punto su cui insistere.</a:t>
            </a:r>
          </a:p>
          <a:p/>
          <a:p>
            <a:r>
              <a:t>Se chiedono «e la cache non rompe il requisito?»: no, ed e' il pezzo di cui vado piu' fiero. La chiave della memoria contiene updated_at del profilo e l'impronta della base di conoscenza. Con due processi, il signal di Django arriva a uno solo — la garanzia e' la chiave, non il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Non leggere la tabella riga per riga. Dire: «trenta requisiti, tutti con un id; ve ne mostro il funzionamento fra due minuti». Poi passare oltre.</a:t>
            </a:r>
          </a:p>
          <a:p/>
          <a:p>
            <a:r>
              <a:t>Se chiedono la copertura formale: REQUIREMENTS.md §9 ha la tabella requisiti → fase → criterio di accettazione.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riga da dire ad alta voce e' CA-1: la prova da zero e' costata due giri, e il primo giro e' servito — nessuno dei comandi curl del README funzionava su Windows, per tre ragioni diverse. Se non l'avessi rifatta su macchina pulita, l'avreste scoperto voi.</a:t>
            </a:r>
          </a:p>
          <a:p/>
          <a:p>
            <a:r>
              <a:t>E' anche il motivo per cui le riserve sono scritte: un criterio «superato» senza dire come non vale niente.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chiedono «perche' non Chroma / FAISS / Qdrant»: la risposta e' nella colonna «perche'», ma il vero criterio e' stato «quanti servizi deve avviare chi valuta il progetto».</a:t>
            </a:r>
          </a:p>
          <a:p/>
          <a:p>
            <a:r>
              <a:t>Il costo che dichiaro volentieri e' quello di PGVector: mi ritrovo due ORM e due driver verso lo stesso database. L'alternativa era scrivermi il retriever sull'ORM di Django — mezza giornata, e avrei perso MMR.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Questa slide vale piu' delle altre. Un candidato che elenca i propri limiti sta dicendo che il resto l'ha verificato.</a:t>
            </a:r>
          </a:p>
          <a:p/>
          <a:p>
            <a:r>
              <a:t>Sul rilievo 1: e' scritto anche in CLAUDE.md e in ARCHITECTURE, con la misura. Non e' emerso in demo, e' emerso leggendo _recupera() riga per riga durante la prova finale.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Ordine di esecuzione reale: prima far girare lo script una volta PRIMA di iniziare a parlare, cosi' i modelli sono caldi. La prima domanda a freddo costa 180 secondi — sono quasi tutti caricamento del modello in VRAM, ma in una demo sembrano un guasto.</a:t>
            </a:r>
          </a:p>
          <a:p/>
          <a:p>
            <a:r>
              <a:t>Poi rifarli a mano davanti a loro, o rilanciare lo script: alla seconda esecuzione il caricamento riceve 409 e prosegue sul documento gia' presente, che e' voluto.</a:t>
            </a:r>
          </a:p>
          <a:p/>
          <a:p>
            <a:r>
              <a:t>Il passo 6 e' l'unico da fare per forza a mano, nell'admin: e' il requisito centrale della traccia.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Il piano B va detto solo se serve. Ma averlo in slide vuol dire che se capita, non e' una sorpresa: e' un limite noto con un rimedio noto.</a:t>
            </a:r>
          </a:p>
          <a:p/>
          <a:p>
            <a:r>
              <a:t>Se la demo va liscia, questa meta' della slide si salta.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Chiusura in una frase, poi silenzio e domande.</a:t>
            </a:r>
          </a:p>
          <a:p/>
          <a:p>
            <a:r>
              <a:t>Se ne resta il tempo, la domanda che invito io e': «cosa faresti diversamente se questo andasse in produzione?» — risposta: allow-list su base_url, isolamento di rete dei container, e un broker vero se le ingestioni diventassero molte.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77240" y="2212848"/>
            <a:ext cx="1097280" cy="0"/>
          </a:xfrm>
          <a:prstGeom prst="line">
            <a:avLst/>
          </a:prstGeom>
          <a:ln w="25400">
            <a:solidFill>
              <a:srgbClr val="8A2B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77240" y="2487168"/>
            <a:ext cx="9601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0" i="0">
                <a:solidFill>
                  <a:srgbClr val="1A1D21"/>
                </a:solidFill>
                <a:latin typeface="Georgia"/>
              </a:rPr>
              <a:t>Sistema RAG su PDF</a:t>
            </a:r>
          </a:p>
          <a:p>
            <a:pPr algn="l">
              <a:lnSpc>
                <a:spcPct val="112000"/>
              </a:lnSpc>
            </a:pPr>
            <a:r>
              <a:rPr sz="4000" b="0" i="0">
                <a:solidFill>
                  <a:srgbClr val="1A1D21"/>
                </a:solidFill>
                <a:latin typeface="Georgia"/>
              </a:rPr>
              <a:t>con LLM privato locale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04164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6B6B68"/>
                </a:solidFill>
                <a:latin typeface="Segoe UI"/>
              </a:rPr>
              <a:t>Django  ·  LangChain  ·  Ollama  ·  PostgreSQL con pgvector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59028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8A2B1E"/>
                </a:solidFill>
                <a:latin typeface="Segoe UI"/>
              </a:rPr>
              <a:t>Nessun contenuto dei documenti lascia la macchina — verificato a rete staccata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044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995"/>
                </a:solidFill>
                <a:latin typeface="Segoe UI"/>
              </a:rPr>
              <a:t>Prova tecnica  ·  consegna del 27 luglio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180">
                <a:solidFill>
                  <a:srgbClr val="9A9995"/>
                </a:solidFill>
                <a:latin typeface="Segoe UI"/>
              </a:rPr>
              <a:t>Il punto di partenza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527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0" i="0">
                <a:solidFill>
                  <a:srgbClr val="1A1D21"/>
                </a:solidFill>
                <a:latin typeface="Georgia"/>
              </a:rPr>
              <a:t>Cosa chiedeva la traccia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298448"/>
            <a:ext cx="1371600" cy="0"/>
          </a:xfrm>
          <a:prstGeom prst="line">
            <a:avLst/>
          </a:prstGeom>
          <a:ln w="20320">
            <a:solidFill>
              <a:srgbClr val="8A2B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64240" y="63276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A9995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9995"/>
                </a:solidFill>
                <a:latin typeface="Segoe UI"/>
              </a:rPr>
              <a:t>Sistema RAG in Django  ·  prova tecnica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8A2B1E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783080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Segoe UI"/>
              </a:rPr>
              <a:t>Un LLM privato locale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112264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68"/>
                </a:solidFill>
                <a:latin typeface="Segoe UI"/>
              </a:rPr>
              <a:t>«La generazione delle risposte deve avvenire tramite un LLM privato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68"/>
                </a:solidFill>
                <a:latin typeface="Segoe UI"/>
              </a:rPr>
              <a:t>locale.» Ripetuto due volte: e' il vincolo forte.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43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8A2B1E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743200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Segoe UI"/>
              </a:rPr>
              <a:t>Il comportamento si cambia dall'admin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072384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68"/>
                </a:solidFill>
                <a:latin typeface="Segoe UI"/>
              </a:rPr>
              <a:t>«Vogliamo poter modificare il comportamento del sistema dall'admin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68"/>
                </a:solidFill>
                <a:latin typeface="Segoe UI"/>
              </a:rPr>
              <a:t>senza mettere mano al codice.» E' il requisito centrale.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03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8A2B1E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703320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Segoe UI"/>
              </a:rPr>
              <a:t>Django e LangChain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032504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68"/>
                </a:solidFill>
                <a:latin typeface="Segoe UI"/>
              </a:rPr>
              <a:t>Obbligatori. PDF come base di conoscenza, risposta fondata sul loro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68"/>
                </a:solidFill>
                <a:latin typeface="Segoe UI"/>
              </a:rPr>
              <a:t>contenuto.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63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8A2B1E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663440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D21"/>
                </a:solidFill>
                <a:latin typeface="Segoe UI"/>
              </a:rPr>
              <a:t>Tutto il resto: libero, purche' motivato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992624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68"/>
                </a:solidFill>
                <a:latin typeface="Segoe UI"/>
              </a:rPr>
              <a:t>Vector store, segmentazione, modello di embedding. La motivazione</a:t>
            </a:r>
          </a:p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6B6B68"/>
                </a:solidFill>
                <a:latin typeface="Segoe UI"/>
              </a:rPr>
              <a:t>fa parte della consegna.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5623560"/>
            <a:ext cx="10652760" cy="0"/>
          </a:xfrm>
          <a:prstGeom prst="line">
            <a:avLst/>
          </a:prstGeom>
          <a:ln w="9525">
            <a:solidFill>
              <a:srgbClr val="DC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57790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6B68"/>
                </a:solidFill>
                <a:latin typeface="Segoe UI"/>
              </a:rPr>
              <a:t>Prima di scrivere codice ho tradotto la traccia in 30 requisiti funzionali, 7 non funzionali e 10 criteri di accettazione, in REQUIREMENTS.md. Ogni riga porta la fonte: T se viene dalla traccia, S se e' una scelta mia, D se e' un dettaglio di realizzazione.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180">
                <a:solidFill>
                  <a:srgbClr val="9A9995"/>
                </a:solidFill>
                <a:latin typeface="Segoe UI"/>
              </a:rPr>
              <a:t>Come e' fatto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527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0" i="0">
                <a:solidFill>
                  <a:srgbClr val="1A1D21"/>
                </a:solidFill>
                <a:latin typeface="Georgia"/>
              </a:rPr>
              <a:t>Quattro processi, e nient'altro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298448"/>
            <a:ext cx="1371600" cy="0"/>
          </a:xfrm>
          <a:prstGeom prst="line">
            <a:avLst/>
          </a:prstGeom>
          <a:ln w="20320">
            <a:solidFill>
              <a:srgbClr val="8A2B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64240" y="63276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A9995"/>
                </a:solidFill>
                <a:latin typeface="Segoe U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9995"/>
                </a:solidFill>
                <a:latin typeface="Segoe UI"/>
              </a:rPr>
              <a:t>Sistema RAG in Django  ·  prova tecnica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10652760" cy="3611880"/>
          </a:xfrm>
          <a:prstGeom prst="rect">
            <a:avLst/>
          </a:prstGeom>
          <a:noFill/>
          <a:ln w="11430">
            <a:solidFill>
              <a:srgbClr val="9A9995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41832" y="197510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 spc="180">
                <a:solidFill>
                  <a:srgbClr val="9A9995"/>
                </a:solidFill>
                <a:latin typeface="Segoe UI"/>
              </a:rPr>
              <a:t>LA MACCHINA — niente contenuto documentale esce da qui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2395728"/>
            <a:ext cx="30632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298448" y="2542032"/>
            <a:ext cx="26609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Segoe UI"/>
              </a:rPr>
              <a:t>1.  Django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2852928"/>
            <a:ext cx="266090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6B68"/>
                </a:solidFill>
                <a:latin typeface="Segoe UI"/>
              </a:rPr>
              <a:t>Prende la richiesta, scrive «da fare»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6B68"/>
                </a:solidFill>
                <a:latin typeface="Segoe UI"/>
              </a:rPr>
              <a:t>in una tabella e risponde subito.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2395728"/>
            <a:ext cx="30632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681728" y="2542032"/>
            <a:ext cx="26609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Segoe UI"/>
              </a:rPr>
              <a:t>2.  db_worker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852928"/>
            <a:ext cx="266090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6B68"/>
                </a:solidFill>
                <a:latin typeface="Segoe UI"/>
              </a:rPr>
              <a:t>Legge quella tabella e fa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6B68"/>
                </a:solidFill>
                <a:latin typeface="Segoe UI"/>
              </a:rPr>
              <a:t>il lavoro lento: indicizzare.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4069080"/>
            <a:ext cx="64465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98448" y="4215384"/>
            <a:ext cx="60441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Segoe UI"/>
              </a:rPr>
              <a:t>3.  PostgreSQL  ·  porta 5434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8448" y="4526280"/>
            <a:ext cx="604418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6B68"/>
                </a:solidFill>
                <a:latin typeface="Segoe UI"/>
              </a:rPr>
              <a:t>L'unico servizio con stato: dati applicativi, vettori (pgvector) e coda dei task.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2395728"/>
            <a:ext cx="2926080" cy="2816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8A2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065008" y="2542032"/>
            <a:ext cx="25237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Segoe UI"/>
              </a:rPr>
              <a:t>4.  Ollama  ·  11434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65008" y="2852928"/>
            <a:ext cx="2523744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6B68"/>
                </a:solidFill>
                <a:latin typeface="Segoe UI"/>
              </a:rPr>
              <a:t>Nativo sull'host, mai in container.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6B68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6B68"/>
                </a:solidFill>
                <a:latin typeface="Segoe UI"/>
              </a:rPr>
              <a:t>bge-m3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6B68"/>
                </a:solidFill>
                <a:latin typeface="Segoe UI"/>
              </a:rPr>
              <a:t>calcola i vettori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6B68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6B68"/>
                </a:solidFill>
                <a:latin typeface="Segoe UI"/>
              </a:rPr>
              <a:t>qwen2.5:7b-instruct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6B68"/>
                </a:solidFill>
                <a:latin typeface="Segoe UI"/>
              </a:rPr>
              <a:t>scrive le risposte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240280" y="3538728"/>
            <a:ext cx="0" cy="530352"/>
          </a:xfrm>
          <a:prstGeom prst="line">
            <a:avLst/>
          </a:prstGeom>
          <a:ln w="12700">
            <a:solidFill>
              <a:srgbClr val="9A999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989320" y="3538728"/>
            <a:ext cx="0" cy="530352"/>
          </a:xfrm>
          <a:prstGeom prst="line">
            <a:avLst/>
          </a:prstGeom>
          <a:ln w="12700">
            <a:solidFill>
              <a:srgbClr val="9A999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350008" y="3675887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9995"/>
                </a:solidFill>
                <a:latin typeface="Segoe UI"/>
              </a:rPr>
              <a:t>accoda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3675887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A9995"/>
                </a:solidFill>
                <a:latin typeface="Segoe UI"/>
              </a:rPr>
              <a:t>preleva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7150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6B68"/>
                </a:solidFill>
                <a:latin typeface="Segoe UI"/>
              </a:rPr>
              <a:t>Niente Redis, niente Celery, niente servizi cloud: la coda vive dentro Postgres. Il rovescio, dichiarato: senza il worker acceso i documenti restano «In attesa» a tempo indeterminato — non e' un guasto, e /health lo dice.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180">
                <a:solidFill>
                  <a:srgbClr val="9A9995"/>
                </a:solidFill>
                <a:latin typeface="Segoe UI"/>
              </a:rPr>
              <a:t>Come funziona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527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0" i="0">
                <a:solidFill>
                  <a:srgbClr val="1A1D21"/>
                </a:solidFill>
                <a:latin typeface="Georgia"/>
              </a:rPr>
              <a:t>Due flussi, e basta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298448"/>
            <a:ext cx="1371600" cy="0"/>
          </a:xfrm>
          <a:prstGeom prst="line">
            <a:avLst/>
          </a:prstGeom>
          <a:ln w="20320">
            <a:solidFill>
              <a:srgbClr val="8A2B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64240" y="63276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A9995"/>
                </a:solidFill>
                <a:latin typeface="Segoe U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9995"/>
                </a:solidFill>
                <a:latin typeface="Segoe UI"/>
              </a:rPr>
              <a:t>Sistema RAG in Django  ·  prova tecnica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8A2B1E"/>
                </a:solidFill>
                <a:latin typeface="Segoe UI"/>
              </a:rPr>
              <a:t>A.  CARICO UN 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488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995"/>
                </a:solidFill>
                <a:latin typeface="Segoe UI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1488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A1D21"/>
                </a:solidFill>
                <a:latin typeface="Segoe UI"/>
              </a:rPr>
              <a:t>POST /api/documents/ — Django registra e accoda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694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995"/>
                </a:solidFill>
                <a:latin typeface="Segoe UI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569464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A1D21"/>
                </a:solidFill>
                <a:latin typeface="Segoe UI"/>
              </a:rPr>
              <a:t>202 Accepted in 0,9 s: tu non aspetti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9900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995"/>
                </a:solidFill>
                <a:latin typeface="Segoe UI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2990088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A1D21"/>
                </a:solidFill>
                <a:latin typeface="Segoe UI"/>
              </a:rPr>
              <a:t>Il worker estrae le pagine con PyMuPDF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107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995"/>
                </a:solidFill>
                <a:latin typeface="Segoe UI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341071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A1D21"/>
                </a:solidFill>
                <a:latin typeface="Segoe UI"/>
              </a:rPr>
              <a:t>Taglia in segmenti, bge-m3 li trasforma in vettori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8313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995"/>
                </a:solidFill>
                <a:latin typeface="Segoe UI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3831336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A1D21"/>
                </a:solidFill>
                <a:latin typeface="Segoe UI"/>
              </a:rPr>
              <a:t>Scrive prima in pgvector, poi in Django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519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995"/>
                </a:solidFill>
                <a:latin typeface="Segoe UI"/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42519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A1D21"/>
                </a:solidFill>
                <a:latin typeface="Segoe UI"/>
              </a:rPr>
              <a:t>Stato: «Indicizzato» — o «Fallito» col motivo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263640" y="1737360"/>
            <a:ext cx="0" cy="3749040"/>
          </a:xfrm>
          <a:prstGeom prst="line">
            <a:avLst/>
          </a:prstGeom>
          <a:ln w="9525">
            <a:solidFill>
              <a:srgbClr val="DC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720840" y="16916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8A2B1E"/>
                </a:solidFill>
                <a:latin typeface="Segoe UI"/>
              </a:rPr>
              <a:t>B.  FACCIO UNA DOMANDA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21488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995"/>
                </a:solidFill>
                <a:latin typeface="Segoe U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3448" y="214884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A1D21"/>
                </a:solidFill>
                <a:latin typeface="Segoe UI"/>
              </a:rPr>
              <a:t>POST /api/ask/ — la domanda diventa un vettore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25694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995"/>
                </a:solidFill>
                <a:latin typeface="Segoe U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3448" y="2569464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A1D21"/>
                </a:solidFill>
                <a:latin typeface="Segoe UI"/>
              </a:rPr>
              <a:t>Ricerca nei segmenti: similarity o MMR, top_k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299008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995"/>
                </a:solidFill>
                <a:latin typeface="Segoe U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2990088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A1D21"/>
                </a:solidFill>
                <a:latin typeface="Segoe UI"/>
              </a:rPr>
              <a:t>Zero segmenti? «Non lo so», senza chiamare l'LLM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34107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995"/>
                </a:solidFill>
                <a:latin typeface="Segoe UI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13448" y="3410712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A1D21"/>
                </a:solidFill>
                <a:latin typeface="Segoe UI"/>
              </a:rPr>
              <a:t>Altrimenti prompt(contesto, domanda) → qwen2.5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38313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995"/>
                </a:solidFill>
                <a:latin typeface="Segoe U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13448" y="3831336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A1D21"/>
                </a:solidFill>
                <a:latin typeface="Segoe UI"/>
              </a:rPr>
              <a:t>Risposta + fonti con pagina, estratto e punteggio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2519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995"/>
                </a:solidFill>
                <a:latin typeface="Segoe UI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13448" y="42519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A1D21"/>
                </a:solidFill>
                <a:latin typeface="Segoe UI"/>
              </a:rPr>
              <a:t>QueryLog scritto sempre, anche se fallisce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77240" y="5394960"/>
            <a:ext cx="10652760" cy="0"/>
          </a:xfrm>
          <a:prstGeom prst="line">
            <a:avLst/>
          </a:prstGeom>
          <a:ln w="9525">
            <a:solidFill>
              <a:srgbClr val="DC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77240" y="555955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6B68"/>
                </a:solidFill>
                <a:latin typeface="Segoe UI"/>
              </a:rPr>
              <a:t>Due dettagli che sembrano di forma e non lo sono. L'ordine delle scritture: prima i vettori, poi le righe Django — al contrario resterebbero segmenti che puntano a vettori inesistenti, cioe' un indice che mente in silenzio. E il recupero sta fuori dalla catena LangChain, perche' il log vuole il tempo di recupero e quello di generazione separati.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180">
                <a:solidFill>
                  <a:srgbClr val="9A9995"/>
                </a:solidFill>
                <a:latin typeface="Segoe UI"/>
              </a:rPr>
              <a:t>Il requisito centrale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527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0" i="0">
                <a:solidFill>
                  <a:srgbClr val="1A1D21"/>
                </a:solidFill>
                <a:latin typeface="Georgia"/>
              </a:rPr>
              <a:t>Nessun parametro di comportamento sta nel codice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298448"/>
            <a:ext cx="1371600" cy="0"/>
          </a:xfrm>
          <a:prstGeom prst="line">
            <a:avLst/>
          </a:prstGeom>
          <a:ln w="20320">
            <a:solidFill>
              <a:srgbClr val="8A2B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64240" y="63276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A9995"/>
                </a:solidFill>
                <a:latin typeface="Segoe U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9995"/>
                </a:solidFill>
                <a:latin typeface="Segoe UI"/>
              </a:rPr>
              <a:t>Sistema RAG in Django  ·  prova tecnica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D21"/>
                </a:solidFill>
                <a:latin typeface="Segoe UI"/>
              </a:rPr>
              <a:t>Modello, temperatura, dimensione dei segmenti, strategia di recupero, prompt: sono righe di database, modificabili dall'admin. In config/settings/ c'e' soltanto l'indirizzo dei servizi.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487168"/>
            <a:ext cx="507492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78408" y="2633472"/>
            <a:ext cx="46725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Segoe UI"/>
              </a:rPr>
              <a:t>Come l'indice e' COSTRUITO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944368"/>
            <a:ext cx="467258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6B68"/>
                </a:solidFill>
                <a:latin typeface="Segoe UI"/>
              </a:rPr>
              <a:t>EmbeddingProfile  ·  ChunkingProfile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6B68"/>
                </a:solidFill>
                <a:latin typeface="Segoe UI"/>
              </a:rPr>
              <a:t>Sulla base di conoscenza. Cambiarli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6B68"/>
                </a:solidFill>
                <a:latin typeface="Segoe UI"/>
              </a:rPr>
              <a:t>richiede una reindicizzazione.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487168"/>
            <a:ext cx="5074920" cy="14630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8A2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6248" y="2633472"/>
            <a:ext cx="467258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Segoe UI"/>
              </a:rPr>
              <a:t>Come l'indice e' INTERROGATO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2944368"/>
            <a:ext cx="4672584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6B68"/>
                </a:solidFill>
                <a:latin typeface="Segoe UI"/>
              </a:rPr>
              <a:t>LLMProfile · RetrievalProfile · PromptTemplate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6B68"/>
                </a:solidFill>
                <a:latin typeface="Segoe UI"/>
              </a:rPr>
              <a:t>Sulla pipeline. Effetto immediato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6B68"/>
                </a:solidFill>
                <a:latin typeface="Segoe UI"/>
              </a:rPr>
              <a:t>sulla domanda successiva.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22452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6B68"/>
                </a:solidFill>
                <a:latin typeface="Segoe UI"/>
              </a:rPr>
              <a:t>La divisione non e' estetica: cambiare chunk_size non tocca i documenti gia' indicizzati, e l'admin segnala quali sono disallineati (RF-25).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4892040"/>
            <a:ext cx="10652760" cy="0"/>
          </a:xfrm>
          <a:prstGeom prst="line">
            <a:avLst/>
          </a:prstGeom>
          <a:ln w="9525">
            <a:solidFill>
              <a:srgbClr val="DC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50749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180">
                <a:solidFill>
                  <a:srgbClr val="8A2B1E"/>
                </a:solidFill>
                <a:latin typeface="Segoe UI"/>
              </a:rPr>
              <a:t>COSA LO RENDE VERO, E NON SOLO DICHIARATO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4406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 i="0">
                <a:solidFill>
                  <a:srgbClr val="6B6B68"/>
                </a:solidFill>
                <a:latin typeface="Segoe UI"/>
              </a:rPr>
              <a:t>La configurazione viene riletta a ogni richiesta. Le due sole parti costose — il modello e il vector store — sono in memoria, ma la loro chiave contiene i valori della configurazione, non il solo identificativo: cambia da se' anche nel processo che non ha ricevuto il salvataggio. In prova: temperatura 0,0 contro 1,8, risposte diverse, identificativi dei processi invariati — nessun riavvio.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180">
                <a:solidFill>
                  <a:srgbClr val="9A9995"/>
                </a:solidFill>
                <a:latin typeface="Segoe UI"/>
              </a:rPr>
              <a:t>Le specifiche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527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0" i="0">
                <a:solidFill>
                  <a:srgbClr val="1A1D21"/>
                </a:solidFill>
                <a:latin typeface="Georgia"/>
              </a:rPr>
              <a:t>Come sono coperte, gruppo per gruppo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298448"/>
            <a:ext cx="1371600" cy="0"/>
          </a:xfrm>
          <a:prstGeom prst="line">
            <a:avLst/>
          </a:prstGeom>
          <a:ln w="20320">
            <a:solidFill>
              <a:srgbClr val="8A2B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64240" y="63276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A9995"/>
                </a:solidFill>
                <a:latin typeface="Segoe U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9995"/>
                </a:solidFill>
                <a:latin typeface="Segoe UI"/>
              </a:rPr>
              <a:t>Sistema RAG in Django  ·  prova tecnica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691640"/>
          <a:ext cx="10652759" cy="164592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718187"/>
                <a:gridCol w="1030912"/>
                <a:gridCol w="7903660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8A2B1E"/>
                          </a:solidFill>
                          <a:latin typeface="Segoe UI"/>
                        </a:rPr>
                        <a:t>Gruppo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8A2B1E"/>
                          </a:solidFill>
                          <a:latin typeface="Segoe UI"/>
                        </a:rPr>
                        <a:t>Req.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8A2B1E"/>
                          </a:solidFill>
                          <a:latin typeface="Segoe UI"/>
                        </a:rPr>
                        <a:t>Dove si vede, in concreto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D21"/>
                          </a:solidFill>
                          <a:latin typeface="Segoe UI"/>
                        </a:rPr>
                        <a:t>Base di conoscenza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D21"/>
                          </a:solidFill>
                          <a:latin typeface="Segoe UI"/>
                        </a:rPr>
                        <a:t>RF-01 → 10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D21"/>
                          </a:solidFill>
                          <a:latin typeface="Segoe UI"/>
                        </a:rPr>
                        <a:t>Caricamento da API e admin; stati «In attesa / In elaborazione / Indicizzato / Fallito» col motivo; reindicizzazione; duplicato rifiutato con 409; PDF senza testo respinto con errore esplicito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D21"/>
                          </a:solidFill>
                          <a:latin typeface="Segoe UI"/>
                        </a:rPr>
                        <a:t>Interrogazione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D21"/>
                          </a:solidFill>
                          <a:latin typeface="Segoe UI"/>
                        </a:rPr>
                        <a:t>RF-11 → 16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D21"/>
                          </a:solidFill>
                          <a:latin typeface="Segoe UI"/>
                        </a:rPr>
                        <a:t>POST /api/ask/: risposta fondata sui PDF, fonti con documento, pagina, estratto e punteggio; non-risposta dichiarata; scelta della pipeline per singola richiesta; QueryLog con i due tempi separati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D21"/>
                          </a:solidFill>
                          <a:latin typeface="Segoe UI"/>
                        </a:rPr>
                        <a:t>Configurazione
dall'admin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D21"/>
                          </a:solidFill>
                          <a:latin typeface="Segoe UI"/>
                        </a:rPr>
                        <a:t>RF-17 → 26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D21"/>
                          </a:solidFill>
                          <a:latin typeface="Segoe UI"/>
                        </a:rPr>
                        <a:t>Sei profili piu' RagPipeline: modello, temperatura, top-p, top-k, token, timeout, segmentazione, strategia di recupero, prompt. Validati al salvataggio. La migrazione 0004 crea una configurazione predefinita gia' funzionante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D21"/>
                          </a:solidFill>
                          <a:latin typeface="Segoe UI"/>
                        </a:rPr>
                        <a:t>Accesso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D21"/>
                          </a:solidFill>
                          <a:latin typeface="Segoe UI"/>
                        </a:rPr>
                        <a:t>RF-27 → 30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D21"/>
                          </a:solidFill>
                          <a:latin typeface="Segoe UI"/>
                        </a:rPr>
                        <a:t>Cinque rotte REST piu' i comandi manage.py ingest e ask; admin autenticato; /health con quattro voci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D21"/>
                          </a:solidFill>
                          <a:latin typeface="Segoe UI"/>
                        </a:rPr>
                        <a:t>Non funzionali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D21"/>
                          </a:solidFill>
                          <a:latin typeface="Segoe UI"/>
                        </a:rPr>
                        <a:t>RNF-01 → 07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A1D21"/>
                          </a:solidFill>
                          <a:latin typeface="Segoe UI"/>
                        </a:rPr>
                        <a:t>Nulla esce dalla macchina (verificato a rete staccata); l'ingestione non blocca la risposta HTTP; errori persistiti e ispezionabili; 29 test in ~10 s; README e note architetturali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760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6B68"/>
                </a:solidFill>
                <a:latin typeface="Segoe UI"/>
              </a:rPr>
              <a:t>Ogni requisito ha un identificativo, e ogni identificativo compare nel codice — nelle docstring, nei messaggi di commit e nei nomi dei test. La tracciabilita' e' verificabile, non promessa.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180">
                <a:solidFill>
                  <a:srgbClr val="9A9995"/>
                </a:solidFill>
                <a:latin typeface="Segoe UI"/>
              </a:rPr>
              <a:t>La verifica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527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0" i="0">
                <a:solidFill>
                  <a:srgbClr val="1A1D21"/>
                </a:solidFill>
                <a:latin typeface="Georgia"/>
              </a:rPr>
              <a:t>I dieci criteri di accettazione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298448"/>
            <a:ext cx="1371600" cy="0"/>
          </a:xfrm>
          <a:prstGeom prst="line">
            <a:avLst/>
          </a:prstGeom>
          <a:ln w="20320">
            <a:solidFill>
              <a:srgbClr val="8A2B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64240" y="63276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A9995"/>
                </a:solidFill>
                <a:latin typeface="Segoe U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9995"/>
                </a:solidFill>
                <a:latin typeface="Segoe UI"/>
              </a:rPr>
              <a:t>Sistema RAG in Django  ·  prova tecnica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645920"/>
          <a:ext cx="10652758" cy="301752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681776"/>
                <a:gridCol w="3834993"/>
                <a:gridCol w="6135989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8A2B1E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8A2B1E"/>
                          </a:solidFill>
                          <a:latin typeface="Segoe UI"/>
                        </a:rPr>
                        <a:t>Criterio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8A2B1E"/>
                          </a:solidFill>
                          <a:latin typeface="Segoe UI"/>
                        </a:rPr>
                        <a:t>Esito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CA-1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L'ambiente si avvia da zero col solo README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Superato al secondo giro: il primo ha scoperto che nessun comando curl del README funzionava su Windows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CA-2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Un PDF caricato arriva a «indicizzato»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Superato — 3 pagine, 3 segmenti, piu' il test automatico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CA-3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Domanda pertinente: risposta corretta con le fonti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Superato — 3 fonti con pagina e punteggio, riprodotte su database creato da zero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CA-4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Domanda fuori tema: dichiarazione di non conoscenza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Superato, ma dal prompt e non dalla soglia nella configurazione predefinita — cfr. slide sui limiti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CA-5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Cambio temperatura o prompt: la risposta cambia, senza riavvio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Superato — 0,0 contro 1,8, identificativi dei processi invariati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CA-6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Cambio del numero di segmenti: cambiano le fonti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Superato — top_k 4 → 2 → 1 → 4, fonti 3 → 2 → 1 → 3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CA-7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Due pipeline sulla stessa base danno risposte diverse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Superato — differiscono per il solo prompt: risposte diverse, fonti identiche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CA-8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PDF illeggibile: stato «fallito» con motivo, sistema integro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Superato — 202, poi «Fallito» col motivo leggibile nell'admin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CA-9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Nessuna chiamata verso servizi terzi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Superato a interfacce di rete disattivate: dodici richieste HTTP, tutte a localhost:11434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CA-10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La suite di test passa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Superato — 29 test in 10,4 s; 7,5 s sul virtualenv ricostruito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87044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6B68"/>
                </a:solidFill>
                <a:latin typeface="Segoe UI"/>
              </a:rPr>
              <a:t>Dieci su dieci, ciascuno con la prova di come e' stato ottenuto. Due portano una riserva scritta in riga e non in nota: CA-4 e' retto dal prompt, e CA-2 / CA-8 sono stati letti sull'admin servito via HTTP, non guardato in un browser.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180">
                <a:solidFill>
                  <a:srgbClr val="9A9995"/>
                </a:solidFill>
                <a:latin typeface="Segoe UI"/>
              </a:rPr>
              <a:t>Le decisioni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527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0" i="0">
                <a:solidFill>
                  <a:srgbClr val="1A1D21"/>
                </a:solidFill>
                <a:latin typeface="Georgia"/>
              </a:rPr>
              <a:t>Cosa ho scelto, e cosa costa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298448"/>
            <a:ext cx="1371600" cy="0"/>
          </a:xfrm>
          <a:prstGeom prst="line">
            <a:avLst/>
          </a:prstGeom>
          <a:ln w="20320">
            <a:solidFill>
              <a:srgbClr val="8A2B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64240" y="63276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A9995"/>
                </a:solidFill>
                <a:latin typeface="Segoe U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9995"/>
                </a:solidFill>
                <a:latin typeface="Segoe UI"/>
              </a:rPr>
              <a:t>Sistema RAG in Django  ·  prova tecnica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691640"/>
          <a:ext cx="10652757" cy="192024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1928516"/>
                <a:gridCol w="1469346"/>
                <a:gridCol w="3948867"/>
                <a:gridCol w="3306028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8A2B1E"/>
                          </a:solidFill>
                          <a:latin typeface="Segoe UI"/>
                        </a:rPr>
                        <a:t>Decisione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8A2B1E"/>
                          </a:solidFill>
                          <a:latin typeface="Segoe UI"/>
                        </a:rPr>
                        <a:t>Scelto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8A2B1E"/>
                          </a:solidFill>
                          <a:latin typeface="Segoe UI"/>
                        </a:rPr>
                        <a:t>Perche'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8A2B1E"/>
                          </a:solidFill>
                          <a:latin typeface="Segoe UI"/>
                        </a:rPr>
                        <a:t>Il prezzo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Chi genera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Ollama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Un comando per installarlo; cambiare modello e' una stringa nell'admin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Piu' lento di vLLM, non pensato per molte richieste insieme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Dove stanno i vettori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pgvector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Un solo datastore da avviare e da salvare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Su milioni di vettori un motore dedicato sarebbe piu' veloce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Chi calcola gli embedding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bge-m3
su Ollama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Ottimo multilingua, e stesso servizio dell'LLM: il progetto resta libero da torch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1024 dimensioni, indice piu' pesante; VRAM condivisa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Accesso ai vettori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PGVector di
langchain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MMR e soglia gia' pronti: la traccia premia la configurabilita' del recupero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Due ORM verso lo stesso database; due tabelle fuori dalle migrazioni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Lavoro in background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django-tasks
su database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La coda vive in Postgres: nessun servizio in piu'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Il worker fa polling; 19 migrazioni di terze parti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Osservabilita'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QueryLog
nell'admin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Zero infrastruttura, e sta dove la traccia chiede che il sistema sia governabile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D21"/>
                          </a:solidFill>
                          <a:latin typeface="Segoe UI"/>
                        </a:rPr>
                        <a:t>Nessun tracing per passo. Langfuse costerebbe sei container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8521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6B68"/>
                </a:solidFill>
                <a:latin typeface="Segoe UI"/>
              </a:rPr>
              <a:t>Le alternative scartate sono in ARCHITECTURE.md, con il motivo. Tre valori restano negli elenchi dell'admin ma si rifiutano di funzionare — provider cloud e segmentazione a token: sceglierli solleva un errore che spiega perche'. Un rifiuto esplicito vale piu' di un valore ignorato in silenzio.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180">
                <a:solidFill>
                  <a:srgbClr val="9A9995"/>
                </a:solidFill>
                <a:latin typeface="Segoe UI"/>
              </a:rPr>
              <a:t>Onesta' della consegna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527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0" i="0">
                <a:solidFill>
                  <a:srgbClr val="1A1D21"/>
                </a:solidFill>
                <a:latin typeface="Georgia"/>
              </a:rPr>
              <a:t>Quello che non fa, e i limiti che conosco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298448"/>
            <a:ext cx="1371600" cy="0"/>
          </a:xfrm>
          <a:prstGeom prst="line">
            <a:avLst/>
          </a:prstGeom>
          <a:ln w="20320">
            <a:solidFill>
              <a:srgbClr val="8A2B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64240" y="63276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A9995"/>
                </a:solidFill>
                <a:latin typeface="Segoe U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9995"/>
                </a:solidFill>
                <a:latin typeface="Segoe UI"/>
              </a:rPr>
              <a:t>Sistema RAG in Django  ·  prova tecnica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180">
                <a:solidFill>
                  <a:srgbClr val="8A2B1E"/>
                </a:solidFill>
                <a:latin typeface="Segoe UI"/>
              </a:rPr>
              <a:t>NON LO FA, ED E' DICHIARATO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995"/>
                </a:solidFill>
                <a:latin typeface="Segoe UI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01168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D21"/>
                </a:solidFill>
                <a:latin typeface="Segoe UI"/>
              </a:rPr>
              <a:t>Niente OCR: un PDF scansionato produce zero segmenti — ed e' rilevato, non ignorato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7860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995"/>
                </a:solidFill>
                <a:latin typeface="Segoe UI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578608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D21"/>
                </a:solidFill>
                <a:latin typeface="Segoe UI"/>
              </a:rPr>
              <a:t>Niente memoria conversazionale: ogni domanda e' indipendente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4553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995"/>
                </a:solidFill>
                <a:latin typeface="Segoe UI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145536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D21"/>
                </a:solidFill>
                <a:latin typeface="Segoe UI"/>
              </a:rPr>
              <a:t>Niente permessi sui documenti: chi e' autenticato vede tutto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124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995"/>
                </a:solidFill>
                <a:latin typeface="Segoe UI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3712464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D21"/>
                </a:solidFill>
                <a:latin typeface="Segoe UI"/>
              </a:rPr>
              <a:t>Niente valutazione quantitativa della qualita' delle risposte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793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995"/>
                </a:solidFill>
                <a:latin typeface="Segoe UI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279392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D21"/>
                </a:solidFill>
                <a:latin typeface="Segoe UI"/>
              </a:rPr>
              <a:t>Nessun ritentativo automatico dei lavori falliti: c'e' l'azione «Reindicizza»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63640" y="1691640"/>
            <a:ext cx="0" cy="3520440"/>
          </a:xfrm>
          <a:prstGeom prst="line">
            <a:avLst/>
          </a:prstGeom>
          <a:ln w="9525">
            <a:solidFill>
              <a:srgbClr val="DC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720840" y="164592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180">
                <a:solidFill>
                  <a:srgbClr val="8A2B1E"/>
                </a:solidFill>
                <a:latin typeface="Segoe UI"/>
              </a:rPr>
              <a:t>I DUE RILIEVI CHE NON ADDOLCISCO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011680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6B68"/>
                </a:solidFill>
                <a:latin typeface="Segoe UI"/>
              </a:rPr>
              <a:t>1.  Nella configurazione predefinita la soglia non filtra.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6B68"/>
                </a:solidFill>
                <a:latin typeface="Segoe UI"/>
              </a:rPr>
              <a:t>score_threshold agisce solo nella strategia «similarity_score_threshold», e la pipeline predefinita usa «similarity». Su una domanda fuori tema tornano tre segmenti con rilevanza 0,22 / 0,19 / 0,17, e a dichiarare la non conoscenza e' il prompt. Il filtro esiste, e' testato, e si attiva scegliendo quella strategia dall'admin.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3703320"/>
            <a:ext cx="48463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6B68"/>
                </a:solidFill>
                <a:latin typeface="Segoe UI"/>
              </a:rPr>
              <a:t>2.  La garanzia «nulla esce» ha un varco noto.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6B68"/>
                </a:solidFill>
                <a:latin typeface="Segoe UI"/>
              </a:rPr>
              <a:t>base_url e' modificabile dall'admin: un amministratore puo' puntare l'inferenza a un host qualunque. E' il rovescio della configurabilita' che la traccia chiede. In produzione servirebbe una lista di host ammessi.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5440680"/>
            <a:ext cx="10652760" cy="0"/>
          </a:xfrm>
          <a:prstGeom prst="line">
            <a:avLst/>
          </a:prstGeom>
          <a:ln w="9525">
            <a:solidFill>
              <a:srgbClr val="DC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5623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D21"/>
                </a:solidFill>
                <a:latin typeface="Segoe UI"/>
              </a:rPr>
              <a:t>Il primo lo si scopre solo leggendo il codice del recupero. Preferisco dirlo io in una slide, che lasciarlo trovare a voi in una demo.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180">
                <a:solidFill>
                  <a:srgbClr val="9A9995"/>
                </a:solidFill>
                <a:latin typeface="Segoe UI"/>
              </a:rPr>
              <a:t>Dimostrazione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527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0" i="0">
                <a:solidFill>
                  <a:srgbClr val="1A1D21"/>
                </a:solidFill>
                <a:latin typeface="Georgia"/>
              </a:rPr>
              <a:t>Sette passi, cronometrati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298448"/>
            <a:ext cx="1371600" cy="0"/>
          </a:xfrm>
          <a:prstGeom prst="line">
            <a:avLst/>
          </a:prstGeom>
          <a:ln w="20320">
            <a:solidFill>
              <a:srgbClr val="8A2B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64240" y="63276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A9995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9995"/>
                </a:solidFill>
                <a:latin typeface="Segoe UI"/>
              </a:rPr>
              <a:t>Sistema RAG in Django  ·  prova tecnica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691640"/>
          <a:ext cx="10652758" cy="2194560"/>
        </p:xfrm>
        <a:graphic>
          <a:graphicData uri="http://schemas.openxmlformats.org/drawingml/2006/table">
            <a:tbl>
              <a:tblPr firstRow="1" bandRow="0">
                <a:tableStyleId>{2D5ABB26-0587-4C30-8999-92F81FD0307C}</a:tableStyleId>
              </a:tblPr>
              <a:tblGrid>
                <a:gridCol w="436588"/>
                <a:gridCol w="3056119"/>
                <a:gridCol w="5762968"/>
                <a:gridCol w="1397083"/>
              </a:tblGrid>
              <a:tr h="2743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A2B1E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A2B1E"/>
                          </a:solidFill>
                          <a:latin typeface="Segoe UI"/>
                        </a:rPr>
                        <a:t>Passo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A2B1E"/>
                          </a:solidFill>
                          <a:latin typeface="Segoe UI"/>
                        </a:rPr>
                        <a:t>Cosa guardare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8A2B1E"/>
                          </a:solidFill>
                          <a:latin typeface="Segoe UI"/>
                        </a:rPr>
                        <a:t>Criterio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1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1"/>
                          </a:solidFill>
                          <a:latin typeface="Segoe UI"/>
                        </a:rPr>
                        <a:t>GET /health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1"/>
                          </a:solidFill>
                          <a:latin typeface="Segoe UI"/>
                        </a:rPr>
                        <a:t>Quattro voci verdi: database, pgvector, ollama, coda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1"/>
                          </a:solidFill>
                          <a:latin typeface="Segoe UI"/>
                        </a:rPr>
                        <a:t>presupposti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1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1"/>
                          </a:solidFill>
                          <a:latin typeface="Segoe UI"/>
                        </a:rPr>
                        <a:t>POST /api/documents/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1"/>
                          </a:solidFill>
                          <a:latin typeface="Segoe UI"/>
                        </a:rPr>
                        <a:t>202 Accepted in ~1 s, stato «In attesa»: la risposta non aspetta il lavoro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1"/>
                          </a:solidFill>
                          <a:latin typeface="Segoe UI"/>
                        </a:rPr>
                        <a:t>RNF-03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1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1"/>
                          </a:solidFill>
                          <a:latin typeface="Segoe UI"/>
                        </a:rPr>
                        <a:t>GET /api/documents/{id}/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1"/>
                          </a:solidFill>
                          <a:latin typeface="Segoe UI"/>
                        </a:rPr>
                        <a:t>Lo stato che avanza: pending → processing → indexed, 3 pagine e 3 segmenti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1"/>
                          </a:solidFill>
                          <a:latin typeface="Segoe UI"/>
                        </a:rPr>
                        <a:t>CA-2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1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1"/>
                          </a:solidFill>
                          <a:latin typeface="Segoe UI"/>
                        </a:rPr>
                        <a:t>POST /api/ask/ — domanda pertinente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1"/>
                          </a:solidFill>
                          <a:latin typeface="Segoe UI"/>
                        </a:rPr>
                        <a:t>La risposta, e sotto le tre fonti con pagina, estratto e punteggio (0,68 / 0,46 / 0,37)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1"/>
                          </a:solidFill>
                          <a:latin typeface="Segoe UI"/>
                        </a:rPr>
                        <a:t>CA-3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1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1"/>
                          </a:solidFill>
                          <a:latin typeface="Segoe UI"/>
                        </a:rPr>
                        <a:t>POST /api/ask/ — domanda fuori tema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1"/>
                          </a:solidFill>
                          <a:latin typeface="Segoe UI"/>
                        </a:rPr>
                        <a:t>La dichiarazione di non conoscenza invece di una risposta inventata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1"/>
                          </a:solidFill>
                          <a:latin typeface="Segoe UI"/>
                        </a:rPr>
                        <a:t>CA-4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1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1"/>
                          </a:solidFill>
                          <a:latin typeface="Segoe UI"/>
                        </a:rPr>
                        <a:t>Admin: cambio la temperatura, poi il top_k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1"/>
                          </a:solidFill>
                          <a:latin typeface="Segoe UI"/>
                        </a:rPr>
                        <a:t>La risposta successiva cambia. Nessun riavvio: gli identificativi dei processi sono gli stessi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1"/>
                          </a:solidFill>
                          <a:latin typeface="Segoe UI"/>
                        </a:rPr>
                        <a:t>CA-5, CA-6</a:t>
                      </a:r>
                    </a:p>
                  </a:txBody>
                  <a:tcPr marL="54864" marR="109728" marT="45720" marB="45720" anchor="t">
                    <a:solidFill>
                      <a:srgbClr val="F5F3E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1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1"/>
                          </a:solidFill>
                          <a:latin typeface="Segoe UI"/>
                        </a:rPr>
                        <a:t>GET /api/pipelines/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1"/>
                          </a:solidFill>
                          <a:latin typeface="Segoe UI"/>
                        </a:rPr>
                        <a:t>Due configurazioni sulla stessa base: si sceglie per singola richiesta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D21"/>
                          </a:solidFill>
                          <a:latin typeface="Segoe UI"/>
                        </a:rPr>
                        <a:t>CA-7</a:t>
                      </a:r>
                    </a:p>
                  </a:txBody>
                  <a:tcPr marL="54864" marR="109728" marT="45720" marB="45720" anchor="t">
                    <a:noFill/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6235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6B68"/>
                </a:solidFill>
                <a:latin typeface="Segoe UI"/>
              </a:rPr>
              <a:t>I passi da 1 a 5 e il 7 girano anche da soli, con  scripts\dimostrazione.ps1 : cronometra ogni passo, verifica il criterio che quel passo dimostra ed esce con errore se uno non regge. Misurato: 211 s a modello freddo, 18 s alla seconda esecuzione consecutiva.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180">
                <a:solidFill>
                  <a:srgbClr val="9A9995"/>
                </a:solidFill>
                <a:latin typeface="Segoe UI"/>
              </a:rPr>
              <a:t>Dimostrazione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527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0" i="0">
                <a:solidFill>
                  <a:srgbClr val="1A1D21"/>
                </a:solidFill>
                <a:latin typeface="Georgia"/>
              </a:rPr>
              <a:t>I due momenti su cui rallentare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298448"/>
            <a:ext cx="1371600" cy="0"/>
          </a:xfrm>
          <a:prstGeom prst="line">
            <a:avLst/>
          </a:prstGeom>
          <a:ln w="20320">
            <a:solidFill>
              <a:srgbClr val="8A2B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64240" y="63276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A9995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9995"/>
                </a:solidFill>
                <a:latin typeface="Segoe UI"/>
              </a:rPr>
              <a:t>Sistema RAG in Django  ·  prova tecnica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37360"/>
            <a:ext cx="512064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78408" y="1883664"/>
            <a:ext cx="4718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Segoe UI"/>
              </a:rPr>
              <a:t>Le fonti sotto la risposta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194560"/>
            <a:ext cx="4718304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6B68"/>
                </a:solidFill>
                <a:latin typeface="Segoe UI"/>
              </a:rPr>
              <a:t>Non e' un riassunto: e' una risposta con la sua provenienza.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6B68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6B68"/>
                </a:solidFill>
                <a:latin typeface="Segoe UI"/>
              </a:rPr>
              <a:t>Per ogni segmento: documento, numero di pagina, estratto e punteggio di pertinenza. I due tempi — recupero e generazione — sono separati, perche' misurano cose diverse e in P0 ho visto un recupero da 12 s accanto a una generazione da 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5120640" cy="23317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8A2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510528" y="1883664"/>
            <a:ext cx="47183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1D21"/>
                </a:solidFill>
                <a:latin typeface="Segoe UI"/>
              </a:rPr>
              <a:t>Il cambio di configurazione a caldo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194560"/>
            <a:ext cx="4718304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6B68"/>
                </a:solidFill>
                <a:latin typeface="Segoe UI"/>
              </a:rPr>
              <a:t>Apro l'admin, cambio la temperatura, salvo, rifaccio la stessa domanda.</a:t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6B68"/>
                </a:solidFill>
                <a:latin typeface="Segoe UI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6B6B68"/>
                </a:solidFill>
                <a:latin typeface="Segoe UI"/>
              </a:rPr>
              <a:t>La risposta cambia. Nessun riavvio, nessuna modifica al codice, processi con gli stessi identificativi di prima. Poi lo stesso con top_k, che fa cambiare il numero di fonti citate.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180">
                <a:solidFill>
                  <a:srgbClr val="8A2B1E"/>
                </a:solidFill>
                <a:latin typeface="Segoe UI"/>
              </a:rPr>
              <a:t>SE QUALCOSA NON PARTE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7091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D21"/>
                </a:solidFill>
                <a:latin typeface="Segoe UI"/>
              </a:rPr>
              <a:t>Documenti fermi su «In attesa»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70916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8"/>
                </a:solidFill>
                <a:latin typeface="Segoe UI"/>
              </a:rPr>
              <a:t>Il worker non gira. /health lo dice nella voce «coda». Secondo terminale: manage.py db_worker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8464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D21"/>
                </a:solidFill>
                <a:latin typeface="Segoe UI"/>
              </a:rPr>
              <a:t>La prima domanda sembra bloccata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5184648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8"/>
                </a:solidFill>
                <a:latin typeface="Segoe UI"/>
              </a:rPr>
              <a:t>E' il modello che si carica in VRAM: 180 s la prima volta, 4 s dopo. Per questo si scalda prima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66013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A1D21"/>
                </a:solidFill>
                <a:latin typeface="Segoe UI"/>
              </a:rPr>
              <a:t>Un solo terminale disponibile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5660136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6B6B68"/>
                </a:solidFill>
                <a:latin typeface="Segoe UI"/>
              </a:rPr>
              <a:t>TASKS_BACKEND=...ImmediateBackend nel file .env riporta l'ingestione in linea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652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 spc="180">
                <a:solidFill>
                  <a:srgbClr val="9A9995"/>
                </a:solidFill>
                <a:latin typeface="Segoe UI"/>
              </a:rPr>
              <a:t>Per chiudere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106527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0" i="0">
                <a:solidFill>
                  <a:srgbClr val="1A1D21"/>
                </a:solidFill>
                <a:latin typeface="Georgia"/>
              </a:rPr>
              <a:t>Cosa consegno, e cosa resta aperto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1298448"/>
            <a:ext cx="1371600" cy="0"/>
          </a:xfrm>
          <a:prstGeom prst="line">
            <a:avLst/>
          </a:prstGeom>
          <a:ln w="20320">
            <a:solidFill>
              <a:srgbClr val="8A2B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1064240" y="63276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50" b="0" i="0">
                <a:solidFill>
                  <a:srgbClr val="9A9995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276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9A9995"/>
                </a:solidFill>
                <a:latin typeface="Segoe UI"/>
              </a:rPr>
              <a:t>Sistema RAG in Django  ·  prova tecnica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180">
                <a:solidFill>
                  <a:srgbClr val="8A2B1E"/>
                </a:solidFill>
                <a:latin typeface="Segoe UI"/>
              </a:rPr>
              <a:t>CONSEGNO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995"/>
                </a:solidFill>
                <a:latin typeface="Segoe UI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0574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D21"/>
                </a:solidFill>
                <a:latin typeface="Segoe UI"/>
              </a:rPr>
              <a:t>Il codice, con 29 test in ~10 secondi che non richiedono Ollama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694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995"/>
                </a:solidFill>
                <a:latin typeface="Segoe UI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569464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D21"/>
                </a:solidFill>
                <a:latin typeface="Segoe UI"/>
              </a:rPr>
              <a:t>README come documento d'ingresso, con i tempi misurati passo per passo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0815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995"/>
                </a:solidFill>
                <a:latin typeface="Segoe UI"/>
              </a:rPr>
              <a:t>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3081528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D21"/>
                </a:solidFill>
                <a:latin typeface="Segoe UI"/>
              </a:rPr>
              <a:t>ARCHITECTURE.md: ogni scelta con le alternative scartate e il motivo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935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995"/>
                </a:solidFill>
                <a:latin typeface="Segoe UI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3593592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D21"/>
                </a:solidFill>
                <a:latin typeface="Segoe UI"/>
              </a:rPr>
              <a:t>REQUIREMENTS.md: 30 requisiti, 10 criteri, ciascuno col suo esito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05656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995"/>
                </a:solidFill>
                <a:latin typeface="Segoe UI"/>
              </a:rPr>
              <a:t>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" y="4105656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D21"/>
                </a:solidFill>
                <a:latin typeface="Segoe UI"/>
              </a:rPr>
              <a:t>I piani e i report delle sette fasi, non riscritti a posteriori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63640" y="1691640"/>
            <a:ext cx="0" cy="3154680"/>
          </a:xfrm>
          <a:prstGeom prst="line">
            <a:avLst/>
          </a:prstGeom>
          <a:ln w="9525">
            <a:solidFill>
              <a:srgbClr val="DCD9D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720840" y="169164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 spc="180">
                <a:solidFill>
                  <a:srgbClr val="8A2B1E"/>
                </a:solidFill>
                <a:latin typeface="Segoe UI"/>
              </a:rPr>
              <a:t>RESTA APERTO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0574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995"/>
                </a:solidFill>
                <a:latin typeface="Segoe UI"/>
              </a:rPr>
              <a:t>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13448" y="205740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D21"/>
                </a:solidFill>
                <a:latin typeface="Segoe UI"/>
              </a:rPr>
              <a:t>Una lista di host ammessi per base_url: chiuderebbe il varco della slide 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256946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995"/>
                </a:solidFill>
                <a:latin typeface="Segoe UI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3448" y="2569464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D21"/>
                </a:solidFill>
                <a:latin typeface="Segoe UI"/>
              </a:rPr>
              <a:t>La soglia di pertinenza attiva nella configurazione predefinita, non solo disponibile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081528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995"/>
                </a:solidFill>
                <a:latin typeface="Segoe UI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13448" y="3081528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D21"/>
                </a:solidFill>
                <a:latin typeface="Segoe UI"/>
              </a:rPr>
              <a:t>Isolamento di rete a livello di container: la garanzia diventerebbe strutturale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359359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9995"/>
                </a:solidFill>
                <a:latin typeface="Segoe U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13448" y="3593592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1A1D21"/>
                </a:solidFill>
                <a:latin typeface="Segoe UI"/>
              </a:rPr>
              <a:t>Ricerca ibrida e riordinamento: migliorerebbero il recupero su sigle e nomi propri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7240" y="5120640"/>
            <a:ext cx="1097280" cy="0"/>
          </a:xfrm>
          <a:prstGeom prst="line">
            <a:avLst/>
          </a:prstGeom>
          <a:ln w="25400">
            <a:solidFill>
              <a:srgbClr val="8A2B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77240" y="53492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A1D21"/>
                </a:solidFill>
                <a:latin typeface="Georgia"/>
              </a:rPr>
              <a:t>Il vincolo che ha guidato tutto: nessun parametro di comportamento nel codice, e nessun contenuto documentale fuori dalla macchina. Il secondo, dal 26 luglio, e' verificato e non soltanto argomentato.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